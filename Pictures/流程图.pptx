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FAE"/>
    <a:srgbClr val="FDEDE8"/>
    <a:srgbClr val="FDCDCF"/>
    <a:srgbClr val="CDCDE9"/>
    <a:srgbClr val="A6CAEC"/>
    <a:srgbClr val="DBE2F3"/>
    <a:srgbClr val="CCE2F1"/>
    <a:srgbClr val="DEEBF6"/>
    <a:srgbClr val="FDDFDF"/>
    <a:srgbClr val="FFF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F23D5-3FF8-45DE-B8C9-46FAD36BE1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3A9BD-53F9-47DF-B27C-56601A58BD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26185" y="847725"/>
            <a:ext cx="3228340" cy="2220595"/>
          </a:xfrm>
          <a:prstGeom prst="rect">
            <a:avLst/>
          </a:prstGeom>
          <a:solidFill>
            <a:srgbClr val="FFF8E3"/>
          </a:solidFill>
          <a:ln w="28575"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593526" y="214102"/>
            <a:ext cx="4625009" cy="2342321"/>
          </a:xfrm>
          <a:prstGeom prst="rect">
            <a:avLst/>
          </a:prstGeom>
          <a:solidFill>
            <a:srgbClr val="FDDFDF"/>
          </a:solidFill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90677" y="2731883"/>
            <a:ext cx="4625008" cy="1709530"/>
          </a:xfrm>
          <a:prstGeom prst="rect">
            <a:avLst/>
          </a:prstGeom>
          <a:solidFill>
            <a:srgbClr val="DEEBF6"/>
          </a:solidFill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4675926" y="2818879"/>
            <a:ext cx="3037582" cy="1374153"/>
          </a:xfrm>
          <a:prstGeom prst="rect">
            <a:avLst/>
          </a:prstGeom>
          <a:solidFill>
            <a:srgbClr val="CCE2F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sz="1050" dirty="0">
              <a:latin typeface="Cambria" panose="020405030504060302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90677" y="4630389"/>
            <a:ext cx="3544019" cy="1166193"/>
          </a:xfrm>
          <a:prstGeom prst="rect">
            <a:avLst/>
          </a:prstGeom>
          <a:solidFill>
            <a:srgbClr val="DBE2F3"/>
          </a:solidFill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226474" y="3177261"/>
            <a:ext cx="3280624" cy="2650435"/>
          </a:xfrm>
          <a:prstGeom prst="rect">
            <a:avLst/>
          </a:prstGeom>
          <a:solidFill>
            <a:srgbClr val="E1EED9"/>
          </a:solidFill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785684" y="412885"/>
            <a:ext cx="1658074" cy="1440463"/>
          </a:xfrm>
          <a:prstGeom prst="rect">
            <a:avLst/>
          </a:prstGeom>
          <a:solidFill>
            <a:srgbClr val="FDCDCF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367047" y="4136195"/>
            <a:ext cx="2117234" cy="523220"/>
          </a:xfrm>
          <a:prstGeom prst="rect">
            <a:avLst/>
          </a:prstGeom>
          <a:solidFill>
            <a:srgbClr val="C5E0B3"/>
          </a:solidFill>
          <a:ln w="952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Wright Learning Curve Extension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328851" y="1061361"/>
            <a:ext cx="1952089" cy="1135685"/>
          </a:xfrm>
          <a:prstGeom prst="rect">
            <a:avLst/>
          </a:prstGeom>
          <a:solidFill>
            <a:srgbClr val="FFEBAB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en-US" altLang="zh-CN" sz="1400" dirty="0">
              <a:latin typeface="Cambria" panose="02040503050406030204" pitchFamily="18" charset="0"/>
              <a:cs typeface="Fira Code" pitchFamily="1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328851" y="2299803"/>
            <a:ext cx="1952089" cy="430887"/>
          </a:xfrm>
          <a:prstGeom prst="rect">
            <a:avLst/>
          </a:prstGeom>
          <a:solidFill>
            <a:srgbClr val="FFEBAB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Cambria" panose="02040503050406030204" pitchFamily="18" charset="0"/>
                <a:cs typeface="Fira Code" pitchFamily="1" charset="0"/>
              </a:rPr>
              <a:t>Assumptions and Justifications</a:t>
            </a:r>
            <a:endParaRPr lang="en-US" altLang="zh-CN" sz="1400" dirty="0">
              <a:latin typeface="Cambria" panose="02040503050406030204" pitchFamily="18" charset="0"/>
              <a:cs typeface="Fira Code" pitchFamily="1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53627" y="5596864"/>
            <a:ext cx="3226319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mbria" panose="02040503050406030204" pitchFamily="18" charset="0"/>
                <a:ea typeface="Cambria" panose="02040503050406030204" pitchFamily="18" charset="0"/>
              </a:rPr>
              <a:t>(b)Task 1:Compare three transportation strategies</a:t>
            </a:r>
            <a:endParaRPr lang="zh-CN" altLang="en-US" sz="1000" b="1" dirty="0">
              <a:latin typeface="Cambria" panose="020405030504060302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67047" y="3458026"/>
            <a:ext cx="2117234" cy="523220"/>
          </a:xfrm>
          <a:prstGeom prst="rect">
            <a:avLst/>
          </a:prstGeom>
          <a:solidFill>
            <a:srgbClr val="C5E0B3"/>
          </a:solidFill>
          <a:ln w="952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Equivalent rocket payload calculation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67047" y="4814364"/>
            <a:ext cx="2117234" cy="523220"/>
          </a:xfrm>
          <a:prstGeom prst="rect">
            <a:avLst/>
          </a:prstGeom>
          <a:solidFill>
            <a:srgbClr val="C5E0B3"/>
          </a:solidFill>
          <a:ln w="952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 fontAlgn="base"/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Queuing theory load model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22795" y="2323723"/>
            <a:ext cx="3226319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Cambria" panose="02040503050406030204" pitchFamily="18" charset="0"/>
              </a:rPr>
              <a:t>（</a:t>
            </a:r>
            <a:r>
              <a:rPr lang="en-US" altLang="zh-CN" sz="900" b="1" dirty="0">
                <a:latin typeface="Cambria" panose="02040503050406030204" pitchFamily="18" charset="0"/>
              </a:rPr>
              <a:t>c)T</a:t>
            </a:r>
            <a:r>
              <a:rPr lang="en-US" altLang="zh-CN" sz="900" b="1" dirty="0">
                <a:latin typeface="Cambria" panose="02040503050406030204" pitchFamily="18" charset="0"/>
              </a:rPr>
              <a:t>ask 2: Risk Assessment</a:t>
            </a:r>
            <a:endParaRPr lang="zh-CN" altLang="en-US" sz="900" b="1" dirty="0">
              <a:latin typeface="Cambria" panose="020405030504060302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898269" y="2822652"/>
            <a:ext cx="186968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Cambria" panose="02040503050406030204" pitchFamily="18" charset="0"/>
              </a:rPr>
              <a:t>（</a:t>
            </a:r>
            <a:r>
              <a:rPr lang="en-US" altLang="zh-CN" sz="900" b="1" dirty="0">
                <a:latin typeface="Cambria" panose="02040503050406030204" pitchFamily="18" charset="0"/>
              </a:rPr>
              <a:t>a)Preparation  for </a:t>
            </a:r>
            <a:r>
              <a:rPr lang="en-US" altLang="zh-CN" sz="1000" b="1" dirty="0">
                <a:latin typeface="Cambria" panose="02040503050406030204" pitchFamily="18" charset="0"/>
              </a:rPr>
              <a:t>modeling</a:t>
            </a:r>
            <a:endParaRPr lang="zh-CN" altLang="en-US" sz="900" b="1" dirty="0">
              <a:latin typeface="Cambria" panose="020405030504060302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46242" y="560520"/>
            <a:ext cx="1325683" cy="246221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pitchFamily="18" charset="0"/>
                <a:ea typeface="Cambria" panose="02040503050406030204" pitchFamily="18" charset="0"/>
              </a:rPr>
              <a:t>Elevator swaying</a:t>
            </a:r>
            <a:endParaRPr lang="zh-CN" altLang="en-US" sz="1000" dirty="0">
              <a:latin typeface="Cambria" panose="020405030504060302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46240" y="988959"/>
            <a:ext cx="1325683" cy="246221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pitchFamily="18" charset="0"/>
              </a:rPr>
              <a:t>Elevator breakdown </a:t>
            </a:r>
            <a:endParaRPr lang="zh-CN" altLang="en-US" sz="1000" dirty="0">
              <a:latin typeface="Cambria" panose="020405030504060302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46240" y="1428489"/>
            <a:ext cx="1325683" cy="246221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ambria" panose="02040503050406030204" pitchFamily="18" charset="0"/>
              </a:rPr>
              <a:t>Rocket failure</a:t>
            </a:r>
            <a:endParaRPr lang="zh-CN" altLang="en-US" sz="1000" dirty="0">
              <a:latin typeface="Cambria" panose="02040503050406030204" pitchFamily="18" charset="0"/>
            </a:endParaRPr>
          </a:p>
        </p:txBody>
      </p:sp>
      <p:cxnSp>
        <p:nvCxnSpPr>
          <p:cNvPr id="29" name="直接箭头连接符 28"/>
          <p:cNvCxnSpPr>
            <a:endCxn id="30" idx="1"/>
          </p:cNvCxnSpPr>
          <p:nvPr/>
        </p:nvCxnSpPr>
        <p:spPr>
          <a:xfrm flipV="1">
            <a:off x="6450108" y="639180"/>
            <a:ext cx="643890" cy="5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094271" y="508607"/>
            <a:ext cx="1658075" cy="261610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ambria" panose="02040503050406030204" pitchFamily="18" charset="0"/>
                <a:ea typeface="Cambria" panose="02040503050406030204" pitchFamily="18" charset="0"/>
              </a:rPr>
              <a:t>Monte Carlo simulation</a:t>
            </a:r>
            <a:endParaRPr lang="zh-CN" altLang="en-US" sz="1100" dirty="0">
              <a:latin typeface="Cambria" panose="020405030504060302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94271" y="1051577"/>
            <a:ext cx="1658075" cy="261610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ambria" panose="02040503050406030204" pitchFamily="18" charset="0"/>
              </a:rPr>
              <a:t>Risk-Aware Decision</a:t>
            </a:r>
            <a:endParaRPr lang="zh-CN" altLang="en-US" sz="1100" dirty="0">
              <a:latin typeface="Cambria" panose="02040503050406030204" pitchFamily="18" charset="0"/>
            </a:endParaRPr>
          </a:p>
        </p:txBody>
      </p:sp>
      <p:cxnSp>
        <p:nvCxnSpPr>
          <p:cNvPr id="33" name="直接箭头连接符 32"/>
          <p:cNvCxnSpPr>
            <a:stCxn id="30" idx="2"/>
            <a:endCxn id="31" idx="0"/>
          </p:cNvCxnSpPr>
          <p:nvPr/>
        </p:nvCxnSpPr>
        <p:spPr>
          <a:xfrm>
            <a:off x="7923309" y="770217"/>
            <a:ext cx="0" cy="281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664512" y="1524574"/>
            <a:ext cx="1411665" cy="261610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ambria" panose="02040503050406030204" pitchFamily="18" charset="0"/>
              </a:rPr>
              <a:t>Robustness Analysis</a:t>
            </a:r>
            <a:endParaRPr lang="zh-CN" altLang="en-US" sz="1100" dirty="0">
              <a:latin typeface="Cambria" panose="020405030504060302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64511" y="1981634"/>
            <a:ext cx="1411665" cy="261610"/>
          </a:xfrm>
          <a:prstGeom prst="rect">
            <a:avLst/>
          </a:prstGeom>
          <a:solidFill>
            <a:srgbClr val="F7BFAE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Cambria" panose="02040503050406030204" pitchFamily="18" charset="0"/>
              </a:rPr>
              <a:t>Sensitivity Analysis</a:t>
            </a:r>
            <a:endParaRPr lang="zh-CN" altLang="en-US" sz="1100" dirty="0">
              <a:latin typeface="Cambria" panose="02040503050406030204" pitchFamily="18" charset="0"/>
            </a:endParaRPr>
          </a:p>
        </p:txBody>
      </p:sp>
      <p:cxnSp>
        <p:nvCxnSpPr>
          <p:cNvPr id="44" name="连接符: 肘形 43"/>
          <p:cNvCxnSpPr>
            <a:stCxn id="31" idx="3"/>
          </p:cNvCxnSpPr>
          <p:nvPr/>
        </p:nvCxnSpPr>
        <p:spPr>
          <a:xfrm>
            <a:off x="8752205" y="1182370"/>
            <a:ext cx="193675" cy="71501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5620595" y="4193032"/>
            <a:ext cx="3226319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Cambria" panose="02040503050406030204" pitchFamily="18" charset="0"/>
              </a:rPr>
              <a:t>(d)</a:t>
            </a:r>
            <a:r>
              <a:rPr lang="en-US" altLang="zh-CN" sz="900" b="1" dirty="0">
                <a:latin typeface="Cambria" panose="02040503050406030204" pitchFamily="18" charset="0"/>
                <a:sym typeface="+mn-ea"/>
              </a:rPr>
              <a:t>Task 3</a:t>
            </a:r>
            <a:r>
              <a:rPr lang="en-US" altLang="zh-CN" sz="900" b="1" dirty="0">
                <a:latin typeface="Cambria" panose="02040503050406030204" pitchFamily="18" charset="0"/>
              </a:rPr>
              <a:t>:Water Resource Transportation Scheme </a:t>
            </a:r>
            <a:endParaRPr lang="zh-CN" altLang="en-US" sz="900" b="1" dirty="0">
              <a:latin typeface="Cambria" panose="02040503050406030204" pitchFamily="18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798702" y="2945762"/>
            <a:ext cx="1124092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ambria" panose="02040503050406030204" pitchFamily="18" charset="0"/>
                <a:ea typeface="Cambria" panose="02040503050406030204" pitchFamily="18" charset="0"/>
              </a:rPr>
              <a:t>Water Demand Model</a:t>
            </a:r>
            <a:endParaRPr lang="zh-CN" altLang="en-US" sz="1050" dirty="0">
              <a:latin typeface="Cambria" panose="020405030504060302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798701" y="3513210"/>
            <a:ext cx="1124093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ambria" panose="02040503050406030204" pitchFamily="18" charset="0"/>
              </a:rPr>
              <a:t>Water Recycling Efficiency Model</a:t>
            </a:r>
            <a:endParaRPr lang="zh-CN" altLang="en-US" sz="1050" dirty="0">
              <a:latin typeface="Cambria" panose="02040503050406030204" pitchFamily="18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81171" y="3042528"/>
            <a:ext cx="1388068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Cambria" panose="02040503050406030204" pitchFamily="18" charset="0"/>
              </a:rPr>
              <a:t>Optimal Monthly Transport Allocation</a:t>
            </a:r>
            <a:endParaRPr lang="zh-CN" altLang="en-US" sz="1050" dirty="0">
              <a:latin typeface="Cambria" panose="02040503050406030204" pitchFamily="18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325441" y="3714899"/>
            <a:ext cx="1099528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050">
                <a:latin typeface="Cambria" panose="02040503050406030204" pitchFamily="18" charset="0"/>
              </a:rPr>
              <a:t>Multi-Scenario Result Analysis</a:t>
            </a:r>
            <a:endParaRPr lang="zh-CN" altLang="en-US" sz="1050" dirty="0">
              <a:latin typeface="Cambria" panose="02040503050406030204" pitchFamily="18" charset="0"/>
            </a:endParaRPr>
          </a:p>
        </p:txBody>
      </p:sp>
      <p:cxnSp>
        <p:nvCxnSpPr>
          <p:cNvPr id="66" name="直接箭头连接符 65"/>
          <p:cNvCxnSpPr>
            <a:stCxn id="54" idx="2"/>
            <a:endCxn id="64" idx="0"/>
          </p:cNvCxnSpPr>
          <p:nvPr/>
        </p:nvCxnSpPr>
        <p:spPr>
          <a:xfrm>
            <a:off x="6875205" y="3457330"/>
            <a:ext cx="0" cy="257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8030229" y="3124108"/>
            <a:ext cx="1113857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Cambria" panose="02040503050406030204" pitchFamily="18" charset="0"/>
              </a:rPr>
              <a:t>Optimized Phased Water Management Strategy</a:t>
            </a:r>
            <a:endParaRPr lang="zh-CN" altLang="en-US" sz="1050" b="1" dirty="0">
              <a:latin typeface="Cambria" panose="020405030504060302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278279" y="4631091"/>
            <a:ext cx="912858" cy="1166193"/>
          </a:xfrm>
          <a:prstGeom prst="rect">
            <a:avLst/>
          </a:prstGeom>
          <a:solidFill>
            <a:srgbClr val="9AD5DA"/>
          </a:solidFill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5262045" y="5565750"/>
            <a:ext cx="3226319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Cambria" panose="02040503050406030204" pitchFamily="18" charset="0"/>
              </a:rPr>
              <a:t>(e)Task 4:Environmental Impact Assessment</a:t>
            </a:r>
            <a:endParaRPr lang="zh-CN" altLang="en-US" sz="900" b="1" dirty="0">
              <a:latin typeface="Cambria" panose="020405030504060302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706550" y="4751547"/>
            <a:ext cx="1080559" cy="338554"/>
          </a:xfrm>
          <a:prstGeom prst="rect">
            <a:avLst/>
          </a:prstGeom>
          <a:solidFill>
            <a:srgbClr val="CDCDE9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Cambria" panose="02040503050406030204" pitchFamily="18" charset="0"/>
              </a:rPr>
              <a:t>Environmental Pressure Modeling</a:t>
            </a:r>
            <a:endParaRPr lang="zh-CN" altLang="en-US" sz="800" dirty="0">
              <a:latin typeface="Cambria" panose="02040503050406030204" pitchFamily="18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706550" y="5189246"/>
            <a:ext cx="1080559" cy="338554"/>
          </a:xfrm>
          <a:prstGeom prst="rect">
            <a:avLst/>
          </a:prstGeom>
          <a:solidFill>
            <a:srgbClr val="CDCDE9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800">
                <a:latin typeface="Cambria" panose="02040503050406030204" pitchFamily="18" charset="0"/>
              </a:rPr>
              <a:t>Carbon-Tax-Adjusted Cost</a:t>
            </a:r>
            <a:endParaRPr lang="zh-CN" altLang="en-US" sz="800" dirty="0">
              <a:latin typeface="Cambria" panose="020405030504060302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041082" y="5032520"/>
            <a:ext cx="1267448" cy="246221"/>
          </a:xfrm>
          <a:prstGeom prst="rect">
            <a:avLst/>
          </a:prstGeom>
          <a:solidFill>
            <a:srgbClr val="CDCDE9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ambria" panose="02040503050406030204" pitchFamily="18" charset="0"/>
              </a:rPr>
              <a:t>Final optimization</a:t>
            </a:r>
            <a:endParaRPr lang="zh-CN" altLang="en-US" sz="1000" b="1" dirty="0">
              <a:latin typeface="Cambria" panose="020405030504060302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226730" y="4715031"/>
            <a:ext cx="10512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Cambria" panose="02040503050406030204" pitchFamily="18" charset="0"/>
              </a:rPr>
              <a:t>A </a:t>
            </a:r>
            <a:endParaRPr lang="en-US" altLang="zh-CN" sz="1400" b="1" dirty="0">
              <a:latin typeface="Cambria" panose="02040503050406030204" pitchFamily="18" charset="0"/>
            </a:endParaRPr>
          </a:p>
          <a:p>
            <a:pPr algn="ctr"/>
            <a:r>
              <a:rPr lang="en-US" altLang="zh-CN" sz="1400" b="1" dirty="0">
                <a:latin typeface="Cambria" panose="02040503050406030204" pitchFamily="18" charset="0"/>
              </a:rPr>
              <a:t>LETTER </a:t>
            </a:r>
            <a:endParaRPr lang="en-US" altLang="zh-CN" sz="1400" b="1" dirty="0">
              <a:latin typeface="Cambria" panose="02040503050406030204" pitchFamily="18" charset="0"/>
            </a:endParaRPr>
          </a:p>
          <a:p>
            <a:pPr algn="ctr"/>
            <a:r>
              <a:rPr lang="en-US" altLang="zh-CN" sz="1400" b="1" dirty="0">
                <a:latin typeface="Cambria" panose="02040503050406030204" pitchFamily="18" charset="0"/>
              </a:rPr>
              <a:t>TO</a:t>
            </a:r>
            <a:endParaRPr lang="en-US" altLang="zh-CN" sz="1400" b="1" dirty="0">
              <a:latin typeface="Cambria" panose="02040503050406030204" pitchFamily="18" charset="0"/>
            </a:endParaRPr>
          </a:p>
          <a:p>
            <a:pPr algn="ctr"/>
            <a:r>
              <a:rPr lang="en-US" altLang="zh-CN" sz="1400" b="1" dirty="0">
                <a:latin typeface="Cambria" panose="02040503050406030204" pitchFamily="18" charset="0"/>
              </a:rPr>
              <a:t>MCM</a:t>
            </a:r>
            <a:endParaRPr lang="zh-CN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351517" y="1330007"/>
            <a:ext cx="975551" cy="461665"/>
          </a:xfrm>
          <a:prstGeom prst="rect">
            <a:avLst/>
          </a:prstGeom>
          <a:solidFill>
            <a:srgbClr val="FFEBAB"/>
          </a:solidFill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mbria" panose="02040503050406030204" pitchFamily="18" charset="0"/>
                <a:cs typeface="Fira Code" pitchFamily="1" charset="0"/>
              </a:rPr>
              <a:t>Data</a:t>
            </a:r>
            <a:endParaRPr lang="en-US" altLang="zh-CN" sz="1400" dirty="0">
              <a:latin typeface="Cambria" panose="02040503050406030204" pitchFamily="18" charset="0"/>
              <a:cs typeface="Fira Code" pitchFamily="1" charset="0"/>
            </a:endParaRPr>
          </a:p>
          <a:p>
            <a:pPr algn="ctr"/>
            <a:r>
              <a:rPr lang="en-US" altLang="zh-CN" sz="1200" dirty="0">
                <a:latin typeface="Cambria" panose="02040503050406030204" pitchFamily="18" charset="0"/>
                <a:cs typeface="Fira Code" pitchFamily="1" charset="0"/>
              </a:rPr>
              <a:t>Collection</a:t>
            </a:r>
            <a:endParaRPr lang="en-US" altLang="zh-CN" sz="1400" dirty="0">
              <a:latin typeface="Cambria" panose="02040503050406030204" pitchFamily="18" charset="0"/>
              <a:cs typeface="Fira Code" pitchFamily="1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295825" y="1119327"/>
            <a:ext cx="945179" cy="230832"/>
          </a:xfrm>
          <a:prstGeom prst="rect">
            <a:avLst/>
          </a:prstGeom>
          <a:solidFill>
            <a:srgbClr val="FFEBAB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Cambria" panose="02040503050406030204" pitchFamily="18" charset="0"/>
                <a:cs typeface="Fira Code" pitchFamily="1" charset="0"/>
              </a:rPr>
              <a:t>Cost</a:t>
            </a:r>
            <a:endParaRPr lang="en-US" altLang="zh-CN" sz="900" dirty="0">
              <a:latin typeface="Cambria" panose="02040503050406030204" pitchFamily="18" charset="0"/>
              <a:cs typeface="Fira Code" pitchFamily="1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295825" y="1378297"/>
            <a:ext cx="945179" cy="230832"/>
          </a:xfrm>
          <a:prstGeom prst="rect">
            <a:avLst/>
          </a:prstGeom>
          <a:solidFill>
            <a:srgbClr val="FFEBAB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Cambria" panose="02040503050406030204" pitchFamily="18" charset="0"/>
                <a:cs typeface="Fira Code" pitchFamily="1" charset="0"/>
              </a:rPr>
              <a:t>Times</a:t>
            </a:r>
            <a:endParaRPr lang="en-US" altLang="zh-CN" sz="900" dirty="0">
              <a:latin typeface="Cambria" panose="02040503050406030204" pitchFamily="18" charset="0"/>
              <a:cs typeface="Fira Code" pitchFamily="1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295825" y="1642685"/>
            <a:ext cx="945179" cy="230832"/>
          </a:xfrm>
          <a:prstGeom prst="rect">
            <a:avLst/>
          </a:prstGeom>
          <a:solidFill>
            <a:srgbClr val="FFEBAB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Cambria" panose="02040503050406030204" pitchFamily="18" charset="0"/>
                <a:cs typeface="Fira Code" pitchFamily="1" charset="0"/>
              </a:rPr>
              <a:t>Probability</a:t>
            </a:r>
            <a:endParaRPr lang="en-US" altLang="zh-CN" sz="900" dirty="0">
              <a:latin typeface="Cambria" panose="02040503050406030204" pitchFamily="18" charset="0"/>
              <a:cs typeface="Fira Code" pitchFamily="1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295824" y="1911939"/>
            <a:ext cx="945179" cy="230832"/>
          </a:xfrm>
          <a:prstGeom prst="rect">
            <a:avLst/>
          </a:prstGeom>
          <a:solidFill>
            <a:srgbClr val="FFEBAB"/>
          </a:solidFill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dirty="0">
                <a:latin typeface="Cambria" panose="02040503050406030204" pitchFamily="18" charset="0"/>
                <a:cs typeface="Fira Code" pitchFamily="1" charset="0"/>
              </a:rPr>
              <a:t>...</a:t>
            </a:r>
            <a:endParaRPr lang="en-US" altLang="zh-CN" sz="900" dirty="0">
              <a:latin typeface="Cambria" panose="02040503050406030204" pitchFamily="18" charset="0"/>
              <a:cs typeface="Fira Code" pitchFamily="1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693150" y="1884045"/>
            <a:ext cx="24447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686800" y="1642745"/>
            <a:ext cx="0" cy="4857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35" idx="3"/>
          </p:cNvCxnSpPr>
          <p:nvPr/>
        </p:nvCxnSpPr>
        <p:spPr>
          <a:xfrm flipH="1">
            <a:off x="8076054" y="1655117"/>
            <a:ext cx="622300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36" idx="3"/>
          </p:cNvCxnSpPr>
          <p:nvPr/>
        </p:nvCxnSpPr>
        <p:spPr>
          <a:xfrm flipH="1" flipV="1">
            <a:off x="8076054" y="2112952"/>
            <a:ext cx="622300" cy="5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右大括号 33"/>
          <p:cNvSpPr/>
          <p:nvPr/>
        </p:nvSpPr>
        <p:spPr>
          <a:xfrm>
            <a:off x="5919470" y="3150235"/>
            <a:ext cx="177165" cy="627380"/>
          </a:xfrm>
          <a:prstGeom prst="rightBrace">
            <a:avLst>
              <a:gd name="adj1" fmla="val 8333"/>
              <a:gd name="adj2" fmla="val 235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37" name="右大括号 36"/>
          <p:cNvSpPr/>
          <p:nvPr/>
        </p:nvSpPr>
        <p:spPr>
          <a:xfrm>
            <a:off x="5786120" y="4889500"/>
            <a:ext cx="173990" cy="5314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pic>
        <p:nvPicPr>
          <p:cNvPr id="45" name="图片 44" descr="ChatGPT Image 2026年2月3日 01_40_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255" y="5032375"/>
            <a:ext cx="528955" cy="528955"/>
          </a:xfrm>
          <a:prstGeom prst="rect">
            <a:avLst/>
          </a:prstGeom>
        </p:spPr>
      </p:pic>
      <p:pic>
        <p:nvPicPr>
          <p:cNvPr id="48" name="图片 47" descr="fb38452b4f79421245a43ee2df626d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545" y="4475480"/>
            <a:ext cx="1249045" cy="108585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3"/>
          <a:stretch>
            <a:fillRect/>
          </a:stretch>
        </p:blipFill>
        <p:spPr>
          <a:xfrm>
            <a:off x="4798695" y="1720215"/>
            <a:ext cx="1066165" cy="833120"/>
          </a:xfrm>
          <a:prstGeom prst="rect">
            <a:avLst/>
          </a:prstGeom>
        </p:spPr>
      </p:pic>
      <p:pic>
        <p:nvPicPr>
          <p:cNvPr id="58" name="图片 57" descr="b852799b978ab95bdf7ddc3f64edebf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27780" y="3777615"/>
            <a:ext cx="453390" cy="571500"/>
          </a:xfrm>
          <a:prstGeom prst="rect">
            <a:avLst/>
          </a:prstGeom>
        </p:spPr>
      </p:pic>
      <p:pic>
        <p:nvPicPr>
          <p:cNvPr id="62" name="图片 61"/>
          <p:cNvPicPr/>
          <p:nvPr/>
        </p:nvPicPr>
        <p:blipFill>
          <a:blip r:embed="rId5"/>
          <a:stretch>
            <a:fillRect/>
          </a:stretch>
        </p:blipFill>
        <p:spPr>
          <a:xfrm rot="21420000">
            <a:off x="1279525" y="1456055"/>
            <a:ext cx="1081405" cy="1024890"/>
          </a:xfrm>
          <a:prstGeom prst="rect">
            <a:avLst/>
          </a:prstGeom>
        </p:spPr>
      </p:pic>
      <p:cxnSp>
        <p:nvCxnSpPr>
          <p:cNvPr id="68" name="直接箭头连接符 67"/>
          <p:cNvCxnSpPr/>
          <p:nvPr/>
        </p:nvCxnSpPr>
        <p:spPr>
          <a:xfrm>
            <a:off x="7732808" y="3513190"/>
            <a:ext cx="309245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WPS 演示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Cambria</vt:lpstr>
      <vt:lpstr>Fira Code</vt:lpstr>
      <vt:lpstr>Segoe Print</vt:lpstr>
      <vt:lpstr>等线</vt:lpstr>
      <vt:lpstr>微软雅黑</vt:lpstr>
      <vt:lpstr>Arial Unicode MS</vt:lpstr>
      <vt:lpstr>等线 Light</vt:lpstr>
      <vt:lpstr>Calibri</vt:lpstr>
      <vt:lpstr>Niagara Solid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兴 孙</dc:creator>
  <cp:lastModifiedBy>小布头</cp:lastModifiedBy>
  <cp:revision>4</cp:revision>
  <dcterms:created xsi:type="dcterms:W3CDTF">2026-02-02T14:57:00Z</dcterms:created>
  <dcterms:modified xsi:type="dcterms:W3CDTF">2026-02-02T18:17:45Z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2E1155E15AAB46FA95202309351D6C1A_12</vt:lpwstr>
  </property>
  <property fmtid="{D5CDD505-2E9C-101B-9397-08002B2CF9AE}" pid="3" name="KSOProductBuildVer">
    <vt:lpwstr>2052-12.1.0.23542</vt:lpwstr>
  </property>
</Properties>
</file>